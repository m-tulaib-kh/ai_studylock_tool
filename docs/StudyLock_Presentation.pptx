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274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Learning Management System for University Students, Lecturers &amp; Admins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55778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Riphah International University  ·  SCD Course Project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 — Why StudyLock?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Overview &amp; Architecture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Technology Stack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Feature Walkthrough: Student Role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Feature Walkthrough: Lecturer Role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Feature Walkthrough: Admin Role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AI Integration — How It Works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Design Patterns Applied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Code Refactoring Practices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Unit Testing &amp; Docker Deployment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Advantages &amp; User Benefits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Why Choose StudyLock?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Conclusion &amp; Summary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Why StudyLock?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266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Challenges in Traditional Education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26694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266944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miss deadlines with no reminders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personalized AI help — students wait for office hours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attendance wastes lecture 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visibility of progress or performance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Study sessions have no accountability or focus tracking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777240"/>
            <a:ext cx="5852160" cy="2560320"/>
          </a:xfrm>
          <a:prstGeom prst="roundRect">
            <a:avLst>
              <a:gd name="adj" fmla="val 2857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868680"/>
            <a:ext cx="5632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StudyLock Solves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44768" y="1216152"/>
            <a:ext cx="563270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1271016"/>
            <a:ext cx="5632704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Centralised platform — courses, assignments, quizzes in one place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Tutor available 24/7 for any topic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Admin-controlled enrollment with semester &amp; credit-hour rules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Gamification keeps students motivated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Proctored sessions enforce focused study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" y="35661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replaces fragmented tools with one cohesive, AI-enhanced academic platform.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Architecture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MVC Layered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7772400" cy="621792"/>
          </a:xfrm>
          <a:prstGeom prst="roundRect">
            <a:avLst>
              <a:gd name="adj" fmla="val 8824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User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44752"/>
            <a:ext cx="0" cy="12801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7772400" cy="621792"/>
          </a:xfrm>
          <a:prstGeom prst="roundRect">
            <a:avLst>
              <a:gd name="adj" fmla="val 8824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  (7 Controllers — HTTP routing, auth guards)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176272"/>
            <a:ext cx="0" cy="12801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7772400" cy="621792"/>
          </a:xfrm>
          <a:prstGeom prst="roundRect">
            <a:avLst>
              <a:gd name="adj" fmla="val 8824"/>
            </a:avLst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 (10 Services — business logic, transactions, AI calls)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907792"/>
            <a:ext cx="0" cy="12801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7772400" cy="621792"/>
          </a:xfrm>
          <a:prstGeom prst="roundRect">
            <a:avLst>
              <a:gd name="adj" fmla="val 8824"/>
            </a:avLst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6324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 (16 JpaRepository interfaces — JPQL, data access)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3639312"/>
            <a:ext cx="0" cy="12801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" y="3749040"/>
            <a:ext cx="7772400" cy="621792"/>
          </a:xfrm>
          <a:prstGeom prst="roundRect">
            <a:avLst>
              <a:gd name="adj" fmla="val 8824"/>
            </a:avLst>
          </a:prstGeom>
          <a:solidFill>
            <a:srgbClr val="55555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9476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 (studylock_db — 20 tables)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8229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914400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Spring Security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13648" y="1261872"/>
            <a:ext cx="3163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316736"/>
            <a:ext cx="31638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filters, CSRF, session management, role-based URL guards (@PreAuthorize)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03920" y="21488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2240280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OpenRouter AI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2587752"/>
            <a:ext cx="3163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3648" y="2642616"/>
            <a:ext cx="31638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via REST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gen, AI Tutor, Study Plans, Summarizer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503920" y="347472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3648" y="3566160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13648" y="3913632"/>
            <a:ext cx="3163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13648" y="3968496"/>
            <a:ext cx="31638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with MySQL healthcheck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4320" y="46177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Thymeleaf templates  ·  67 Java source files  ·  5 test classes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17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sealed classes, switch expressions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77724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Spring Boot 3.2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271016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Auto-config, embedded Tomcat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spring-boot-starter-web, data, security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984248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7568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Spring Security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242316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78024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login, CSRF, role-based authorization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CustomUserDetailsService (Strategy pattern)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984248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07568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Spring Data JPA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Hibernate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242316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478024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ORM, JPQL queries, lazy/eager loading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repository interfaces, JOIN FETCH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191256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8269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Thymeleaf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363016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85032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HTML templates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th:each, th:if, inline expressions, fragments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191256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28269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🐬 MySQL 8.0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363016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685032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studylock_db, 20 tables, FK constraints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398264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48970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OpenRouter AI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Haiku)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" y="483717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892040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Tutor, Quiz Generator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Plan, Lecture Summarizer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4398264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48970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73368" y="483717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4892040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build, docker-compose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healthcheck, volume mounts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5605272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569671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JUnit 5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Mockito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84048" y="604418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6099048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classes, 49 test methods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coverage reporting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5605272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569671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Lombok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73368" y="604418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6099048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@Builder, @Data, @RequiredArgsConstructor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Java boilerplate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Walkthrough: Student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Role — Feature 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Enrollment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courses, enroll within semester + 18 credit-hour limits. Request admin approval for future-semester or over-credit courses.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7772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Assignments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271016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work, submit files before deadline. Receive grades + written feedback from lecturers.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Tutor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260604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60904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Claude AI about any subject. Ask questions, get explanations, solve problems 24/7.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167128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25856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Quiz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260604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660904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AI-generated or manual quizzes. Get instant scoring + AI-written personalised feedback.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4845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Proctored Sessions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399592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050792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focused study session with countdown timer, violation tracking, camera option. Earn points on completion.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557016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64845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Gamification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399592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050792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for attending, submitting, studying. Build streaks. Unlock badges. Stay motivated.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946904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503834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AI Study Plan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" y="538581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5440680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personalised weekly study plan for any subject and duration using AI.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4946904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503834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Academic Report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73368" y="538581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5440680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%, quiz scores, submission history, topic progress — all in one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Walkthrough: Lecturer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Role — Feature 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Upload Materials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lecture files (PDF, DOCX, video). Students see lectures in their enrolled course page.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7772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Create Assignments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271016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title, subject, deadline, marks. Optionally generate assignment description via AI.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Create Quizzes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260604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60904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MCQ quizzes manually or generate all questions automatically via AI with one click.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167128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25856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Grade Submissions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260604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660904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student submissions, assign marks, write feedback. Status changes to GRADED automatically.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4845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Attendance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399592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050792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 / absent / late for each student per course session. View history.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557016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64845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Student Marks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399592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050792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course to see all marks across assignments and quizzes for every student.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946904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503834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Teaching Assistant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" y="538581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5440680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Tutor questions about pedagogy, lesson planning, or subject content.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4946904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503834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AI Quiz Generator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73368" y="538581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5440680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topic → AI returns a complete set of MCQ questions with answers in seconds.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Walkthrough: Admin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— Feature 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activate/deactivate, and promote users. Assign the Lecturer role to staff members.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7772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271016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courses with title, subject, semester, and credit hours. Assign lecturers to courses.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Enrollment Requests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260604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60904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student requests to enroll in future-semester courses or over the 18-credit-hour cap. Approve or reject with a note.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167128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258568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Bulk Notifications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2606040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660904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targeted notifications to all users, all students, all lecturers, or the entire platform at once.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4845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Dashboard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399592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050792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stats: total users/courses, active sessions, top performers, attendance summary.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557016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648456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Student Reports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3995928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050792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student's full academic record: quiz attempts, attendance, points, submissions.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946904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503834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Login Activity Log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" y="538581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5440680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of every login event including user name, email, role, device, and timestamp.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4946904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503834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Approval Workflow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73368" y="538581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5440680"/>
            <a:ext cx="54498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Two-reason approval system: FUTURE_SEMESTER and CREDIT_LIMIT_EXCEEDED — tracked separately per course.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OpenRouter + Claude Haiku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1612880" cy="54864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features call the OpenRouter API using the anthropic/claude-haiku-4-5 model. The API key is stored securely in environment variables — never committed to source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Tutor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+ Lecturer)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56816"/>
            <a:ext cx="5449824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Student &amp; Lecturer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User selects subject → types message → sends to Claude with a system prompt that includes role context and conversation history → response rendered as Markdown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StudentController /ai-tutor, LecturerController /ai-tutor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Quiz Generator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7336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56816"/>
            <a:ext cx="5449824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Lecturer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Lecturer enters topic + question count → prompt constructed → Claude returns JSON array of MCQ objects → parsed into questionsJson field on Quiz entity → saved and ready to assign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OpenRouterService.generateQuiz()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93192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Study Plan Generator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427939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334256"/>
            <a:ext cx="5449824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Student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Student selects subject + number of weeks → Claude generates a structured weekly schedule with topics, resources, daily tasks → stored as planJson → displayed as formatted plan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StudyPlanService.generatePlan()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93192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Lecture Summarizer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3368" y="427939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4334256"/>
            <a:ext cx="5449824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Lecturer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Lecturer uploads lecture file → file text extracted → sent to Claude with a "summarise this lecture for students" prompt → summary stored with the lecture record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OpenRouterService.summarizeLecture()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Applied in StudyLock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Singleton + Service Locator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44982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SpringContext.java holds a static ApplicationContext reference. getBean&lt;T&gt;() provides type-safe access to any Spring bean from non-managed code.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77724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Strategy Pattern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271016"/>
            <a:ext cx="544982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CustomUserDetailsService implements Spring Security's UserDetailsService interface — our pluggable authentication algorithm that can be swapped without touching security filters.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4320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Builder Pattern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09067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45536"/>
            <a:ext cx="544982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JPA entities use Lombok @Builder. Complex model objects are assembled property-by-property with null-safe defaults. Used in every service call that creates an entity.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65176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74320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Dependency Injection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309067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145536"/>
            <a:ext cx="544982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service and controller classes use @RequiredArgsConstructor (constructor injection). Dependencies are explicit, testable, and mockable — confirmed by 49 passing unit tests.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52628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61772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🟧 Repository Pattern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496519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5020056"/>
            <a:ext cx="544982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JpaRepository interfaces encapsulate ALL data access. Services never query the database directly — they only call repository methods. Enables easy testing via Mockito mocking.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52628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461772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🟪 DTO Pattern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496519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5020056"/>
            <a:ext cx="544982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DTO classes (RegisterDto, GradeDto, QuizQuestionDto, etc.) decouple form/API input from entity structure, preventing accidental exposure of password hashes or internal IDs.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Refactoring</a:t>
            </a:r>
            <a:endParaRPr lang="en-US" sz="3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Refactoring — 7 Improvements Made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6128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  Rename Class — GeminiService → OpenRouterService (corrects misleading name)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  Extract Method — JOIN FETCH query eliminates LazyInitializationException on 3 pages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  Consolidate Conditional — EnrollmentService validation separated into guard-clause blocks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  Extract Component — Searchable dropdown JS extracted from 8 templates into one app.js function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R-05  Introduce Guard Clause — AdminController.reports() null-safe with getOrDefault()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R-06  Introduce Null Guard — Thymeleaf Elvis operator (c.creditHours ?: 3) on all arithmetic expressions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R-07  Extract Configuration — API key + DB password moved from source files to .env / environment variables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refactoring is documented with Before/After code in the Refactoring Log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3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&amp; Docker Deployment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358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Unit Testing (JUnit 5 + Mockito)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35838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358384" cy="4718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 (5):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EnrollmentServiceTest — 23 tests covering 6-course cap, 18-credit cap, semester gating, approval workflow, credit-limit approval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UserServiceTest — 14 tests covering registration, semester, role logic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AcademicServiceTest — 10 tests including LazyInit regression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SessionServiceTest — 2 tests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SecurityUtilsTest — 4 tests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49 test methods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tests: PASSING 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JaCoCo wired in pom.xml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5760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868680"/>
            <a:ext cx="5541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216152"/>
            <a:ext cx="554126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271016"/>
            <a:ext cx="5541264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Multi-stage build (Maven build stage + JRE runtime stage)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image: Eclipse Temurin 17 JRE slim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Copies only the built JAR — no source or secrets in image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Uploads volume mounted at /app/uploads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3520440"/>
            <a:ext cx="5541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docker-compose.yml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3867912"/>
            <a:ext cx="554126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3922776"/>
            <a:ext cx="5541264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Services: studylock-app + mysql:8.0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healthcheck (mysqladmin ping) before app starts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secrets from .env file (OPENROUTER_API_KEY, MYSQL_ROOT_PASSWORD)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Volume: studylock_db_data for data persistence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available at http://localhost:8080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User Benefits</a:t>
            </a:r>
            <a:endParaRPr lang="en-US" sz="3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StudyLock? — Key Advantages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60020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(Student, Lecturer, Admin)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7772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91440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96312" y="160020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91440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45152" y="160020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7772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91440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93992" y="160020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7772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D7A3E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91440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942832" y="160020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5B9BD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46888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47472" y="315468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2331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246888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496312" y="315468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331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246888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645152" y="315468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2331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D7A3E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246888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793992" y="315468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69680" y="2331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C00020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0" y="246888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942832" y="3154680"/>
            <a:ext cx="1865376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3886200"/>
            <a:ext cx="11612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AI-powered 24/7 tutoring — no need to wait for office hours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Structured credit-hour &amp; semester enforcement prevents overloading students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approval workflow for exceptional enrollment cases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Gamification (points, streaks, badges) drives consistent student engagement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Proctored sessions create accountability and measurable study habits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Benefits — Students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1612880" cy="530352"/>
          </a:xfrm>
          <a:prstGeom prst="roundRect">
            <a:avLst>
              <a:gd name="adj" fmla="val 10345"/>
            </a:avLst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11430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StudyLock make YOUR academic life better?"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Always-On AI Help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56816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a concept at 2am? The AI Tutor answers any question in any subject instantly — no appointment needed, no waiting until the next lecture.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Personalised Study Plans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7336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56816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your subject and how many weeks you have. It creates a full study schedule for you — structured, week-by-week, with topics and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7355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Stay Motivated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362102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75888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for every submission, quiz, and study session. Build daily streaks. Unlock badges. StudyLock turns studying into a rewarding habit.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182112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27355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Focused Study Sessions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3368" y="362102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3675888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proctored session feature keeps you on task with a timer, violation tracking, and completion rewards — no distractions.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901184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99262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Know Where You Stand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" y="534009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5394960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academic dashboard shows attendance %, quiz scores, topic completion, and points — all at a glance.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901184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99262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Never Miss a Deadline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73368" y="534009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5394960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notifications for new assignments, graded work, approved enrollments, and admin messages.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Benefits — Lecturers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1612880" cy="530352"/>
          </a:xfrm>
          <a:prstGeom prst="roundRect">
            <a:avLst>
              <a:gd name="adj" fmla="val 10345"/>
            </a:avLst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11430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StudyLock save lecturers time and improve teaching?"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 Quiz in Seconds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56816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topic → StudyLock generates a complete set of MCQ questions with answers instantly. No hours of question writing.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Easy Content Upload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7336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56816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lecture files, assign assignments, and post quizzes from one simple dashboard. Students see new content immediately.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7355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Instant Grade Overview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362102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75888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student's marks across all assignments and quizzes in one filtered view. No spreadsheets.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182112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27355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One-Click Attendance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3368" y="362102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3675888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entire class present, then adjust only the absent/late students. Takes 30 seconds.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901184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99262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Teaching Assistant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" y="534009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5394960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AI for lesson planning, generating examples, explaining difficult concepts differently, or brainstorming assessments.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901184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99262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AI Lecture Summarizer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73368" y="534009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5394960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lecture PDF → get a clean, student-friendly summary generated by AI. Helps students review faster.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Benefits — Admin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1612880" cy="530352"/>
          </a:xfrm>
          <a:prstGeom prst="roundRect">
            <a:avLst>
              <a:gd name="adj" fmla="val 10345"/>
            </a:avLst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11430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StudyLock give admins full control with minimal effort?"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 Complete User Control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56816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accounts, assign roles, activate/deactivate users — full control over who accesses the platform and as what role.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544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Control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73368" y="19019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56816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the course catalogue. Set semester and credit-hours. Assign qualified lecturers to specific courses.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7355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Smart Enrollment Rules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362102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75888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enforces max 6 courses and 18 credit-hours per student. Admins only review edge-case exceptions.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182112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273552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Real-Time Analytics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3368" y="3621024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3675888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dashboard with total users, active sessions, top performers, and attendance rates — always up to date.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901184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99262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Security &amp; Audit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" y="534009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5394960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login activity log with device info. All secrets are in environment variables. No sensitive data in source code.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901184"/>
            <a:ext cx="5669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992624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Targeted Notifications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73368" y="5340096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5394960"/>
            <a:ext cx="54498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messages to specific roles or all users at once — for announcements, deadlines, or system updates.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StudyLock?</a:t>
            </a:r>
            <a:endParaRPr lang="en-US" sz="3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StudyLock Over Alternatives?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5669280"/>
        </p:xfrm>
        <a:graphic>
          <a:graphicData uri="http://schemas.openxmlformats.org/drawingml/2006/table">
            <a:tbl>
              <a:tblPr/>
              <a:tblGrid>
                <a:gridCol w="3800"/>
                <a:gridCol w="2500"/>
                <a:gridCol w="2000"/>
                <a:gridCol w="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Tutor 24/7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Built-in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Quiz 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One-click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Proctored Study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Violations + timer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Credit-Hour 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Automatic +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Points, streaks, badges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3 roles, enforced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Approval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2 reasons, tracked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One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Complex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Vendor lock-in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Models — UML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394960" cy="5303520"/>
          </a:xfrm>
          <a:prstGeom prst="roundRect">
            <a:avLst>
              <a:gd name="adj" fmla="val 1379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entity classes + 6 enumerations.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→ Enrollment → Course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→ QuizAttempt → Quiz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→ Submission → Assignment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Enrollment → StudySession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Enrollment → TopicProgress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→ GameState (1-to-1)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EnrollmentRequest (reason: FUTURE_SEMESTER | CREDIT_LIMIT_EXCEEDED)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 use @Builder + @Data (Lombok).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FKs enforced at database level.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777240"/>
            <a:ext cx="594360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822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132588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actors: Student, Lecturer, Admin.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actor: OpenRouter AI API.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17 use cases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(Browse, Enroll, Submit, AI Tutor, Sessions, Gamification…)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8 use cases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(Upload, Create Quiz, Grade, Attendance…)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9 use cases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 Users, Approve Requests, Analytics…)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Register/Login, Profile, Notifications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files: docs/uml/*.puml + *.png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1170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  ·  Riphah International University  ·  SCD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669280" cy="2514600"/>
          </a:xfrm>
          <a:prstGeom prst="roundRect">
            <a:avLst>
              <a:gd name="adj" fmla="val 2909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Spring Security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71016"/>
            <a:ext cx="5449824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 on all POST forms. Session-based authentication. Role-based URL guards (@PreAuthorize + WebSecurityConfig). CustomUserDetailsService loads the user from MySQL by email.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777240"/>
            <a:ext cx="5669280" cy="2514600"/>
          </a:xfrm>
          <a:prstGeom prst="roundRect">
            <a:avLst>
              <a:gd name="adj" fmla="val 2909"/>
            </a:avLst>
          </a:prstGeom>
          <a:solidFill>
            <a:srgbClr val="E8F1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86868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Secrets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121615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271016"/>
            <a:ext cx="5449824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DB passwords are stored exclusively in a gitignored .env file and environment variables. The .gitignore file was added in v4.2.3 to prevent future accidental commits. Zero secrets in any tracked source file.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5669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47472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Input Validation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82219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77056"/>
            <a:ext cx="5449824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Spring's @Valid + Jakarta Validation annotations on DTOs. Thymeleaf's context-aware output encoding prevents XSS. SQL injection prevented by JPA parameter binding.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5669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474720"/>
            <a:ext cx="5449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Access Control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3822192"/>
            <a:ext cx="5449824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877056"/>
            <a:ext cx="5449824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Lecturer, Admin roles enforced at every controller method. No cross-role data leakage — students cannot access /lecturer or /admin routes. @AuthenticationPrincipal used for current-user context.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StudyLock LMS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Full-stack LMS with Spring Boot 3.2, MySQL, Thymeleaf, and OpenRouter 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user roles (Student, Lecturer, Admin) with 40+ distinct 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77977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design patterns: Singleton, Strategy, Builder, DI, Repository, DTO, State Enum, MVC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163824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 refactoring activities improving reliability, security, and maintainability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54787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49 JUnit 5 unit tests — all passing — covering all core service logic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Compose deployment with single-command startup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31596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Secrets fully externalized — no API keys in tracked source code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52578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Riphah International University  ·  SCD Course Project  ·  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576072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2026-06-18T19:14:38Z</dcterms:created>
  <dcterms:modified xsi:type="dcterms:W3CDTF">2026-06-18T19:14:38Z</dcterms:modified>
</cp:coreProperties>
</file>